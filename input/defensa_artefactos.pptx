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ouSkJBU+veZXOJ+xaFq3CtIXI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898E4F-D351-49F4-AB3A-22A79A5EF6B2}">
  <a:tblStyle styleId="{87898E4F-D351-49F4-AB3A-22A79A5EF6B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4D8494C-CF83-4609-AAC6-5C900FBBA10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65e49d60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d65e49d60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d65e49d609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73fef2247_1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973fef2247_1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973fef2247_1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73fef2247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973fef224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973fef224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73fef2247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973fef2247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973fef2247_1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73fef2247_1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973fef2247_1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973fef2247_1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73fef2247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973fef2247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973fef2247_1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73fef2247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973fef2247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973fef2247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73fef2247_3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973fef2247_3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973fef2247_3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732a62f4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9732a62f4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39732a62f4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74413fc6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974413fc6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g3974413fc6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74413fc68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974413fc68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974413fc68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974413fc68_2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974413fc68_2_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974413fc68_2_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974413fc68_2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974413fc68_2_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974413fc68_2_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974413fc68_2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974413fc68_2_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974413fc68_2_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spreadsheets/d/1XfZ28JZocKE1qwzKDZyT4p92A-OgwtCy/edit?gid=1513888730#gid=1513888730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3D6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D7377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0D7377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800" y="265176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2D8D8"/>
                </a:solidFill>
                <a:latin typeface="Calibri"/>
                <a:ea typeface="Calibri"/>
                <a:cs typeface="Calibri"/>
                <a:sym typeface="Calibri"/>
              </a:rPr>
              <a:t>Lean Inception · Desarrollo de Producto · Planificación de Proyectos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5800" y="3246120"/>
            <a:ext cx="3200400" cy="36576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3429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2D8D8"/>
                </a:solidFill>
                <a:latin typeface="Calibri"/>
                <a:ea typeface="Calibri"/>
                <a:cs typeface="Calibri"/>
                <a:sym typeface="Calibri"/>
              </a:rPr>
              <a:t>Grupo 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1"/>
          <p:cNvGrpSpPr/>
          <p:nvPr/>
        </p:nvGrpSpPr>
        <p:grpSpPr>
          <a:xfrm>
            <a:off x="659385" y="593653"/>
            <a:ext cx="2003700" cy="1995000"/>
            <a:chOff x="619685" y="721728"/>
            <a:chExt cx="2003700" cy="1995000"/>
          </a:xfrm>
        </p:grpSpPr>
        <p:sp>
          <p:nvSpPr>
            <p:cNvPr id="23" name="Google Shape;23;p1"/>
            <p:cNvSpPr/>
            <p:nvPr/>
          </p:nvSpPr>
          <p:spPr>
            <a:xfrm>
              <a:off x="619685" y="721728"/>
              <a:ext cx="2003700" cy="1995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" name="Google Shape;24;p1"/>
            <p:cNvPicPr preferRelativeResize="0"/>
            <p:nvPr/>
          </p:nvPicPr>
          <p:blipFill rotWithShape="1">
            <a:blip r:embed="rId3">
              <a:alphaModFix/>
            </a:blip>
            <a:srcRect b="9308" l="25075" r="22034" t="5838"/>
            <a:stretch/>
          </p:blipFill>
          <p:spPr>
            <a:xfrm>
              <a:off x="757037" y="962163"/>
              <a:ext cx="1728974" cy="1514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0040" y="658368"/>
            <a:ext cx="850392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20040" y="658368"/>
            <a:ext cx="54864" cy="694944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84632" y="704088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0E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rgbClr val="14B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69848" y="722376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Introducción y uso de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69848" y="100584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Herramientas y metodología de desarrollo agéntico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0040" y="1463040"/>
            <a:ext cx="850392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0040" y="1463040"/>
            <a:ext cx="54864" cy="694944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84632" y="150876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0E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rgbClr val="14B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69848" y="152704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Lean Inception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69848" y="181051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Visión, Es-No Es, Personas,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0040" y="2267712"/>
            <a:ext cx="850392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0040" y="2267712"/>
            <a:ext cx="54864" cy="694944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4632" y="2313432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0E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rgbClr val="14B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69848" y="23317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Desarrollo de Producto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69848" y="2615184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User Story Mapping, User Stories, Product Backlog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0040" y="3072384"/>
            <a:ext cx="850392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0040" y="3072384"/>
            <a:ext cx="54864" cy="694944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4632" y="3118104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0E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rgbClr val="14B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69848" y="31363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Planificación de Proyectos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69848" y="341985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Cronograma y WBS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20040" y="3877056"/>
            <a:ext cx="850392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20040" y="3877056"/>
            <a:ext cx="54864" cy="694944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84632" y="3922776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0E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rgbClr val="14B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69848" y="394106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Costos y Revenue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69848" y="4224528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Iteraciones, versiones y resultado final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737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Uso de Herramientas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IA &amp; Desarrollo Agéntico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Herramientas de IA Utilizadas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20040" y="685800"/>
            <a:ext cx="411480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20040" y="685800"/>
            <a:ext cx="4114800" cy="54864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02920" y="8686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🤖  LLM / Chatbot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02920" y="1280160"/>
            <a:ext cx="37490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Generación y refinamiento de artefactos en lenguaje natural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709160" y="685800"/>
            <a:ext cx="411480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709160" y="685800"/>
            <a:ext cx="4114800" cy="54864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892040" y="8686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🔁  Desarrollo Agéntico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892040" y="1280160"/>
            <a:ext cx="37490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Ciclos de prompt → revisión → ajuste → validación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514610" y="2560315"/>
            <a:ext cx="4114800" cy="169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514610" y="2560315"/>
            <a:ext cx="4114800" cy="549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697490" y="2743195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✅  Validación humana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697490" y="3154675"/>
            <a:ext cx="37491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Revisión crítica del equipo sobre cada output generado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Ciclo de Iteración con 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1463040"/>
            <a:ext cx="1234440" cy="100584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1536192"/>
            <a:ext cx="1234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5"/>
          <p:cNvCxnSpPr/>
          <p:nvPr/>
        </p:nvCxnSpPr>
        <p:spPr>
          <a:xfrm>
            <a:off x="1691640" y="1965960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5"/>
          <p:cNvSpPr/>
          <p:nvPr/>
        </p:nvSpPr>
        <p:spPr>
          <a:xfrm>
            <a:off x="1892808" y="1463040"/>
            <a:ext cx="1234440" cy="1005840"/>
          </a:xfrm>
          <a:prstGeom prst="rect">
            <a:avLst/>
          </a:prstGeom>
          <a:solidFill>
            <a:srgbClr val="2196A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892808" y="1536192"/>
            <a:ext cx="1234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 v1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5"/>
          <p:cNvCxnSpPr/>
          <p:nvPr/>
        </p:nvCxnSpPr>
        <p:spPr>
          <a:xfrm>
            <a:off x="3127248" y="1965960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5"/>
          <p:cNvSpPr/>
          <p:nvPr/>
        </p:nvSpPr>
        <p:spPr>
          <a:xfrm>
            <a:off x="3328416" y="1463040"/>
            <a:ext cx="1234440" cy="1005840"/>
          </a:xfrm>
          <a:prstGeom prst="rect">
            <a:avLst/>
          </a:prstGeom>
          <a:solidFill>
            <a:srgbClr val="2196A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328416" y="1536192"/>
            <a:ext cx="1234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5"/>
          <p:cNvCxnSpPr/>
          <p:nvPr/>
        </p:nvCxnSpPr>
        <p:spPr>
          <a:xfrm>
            <a:off x="4562856" y="1965960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5"/>
          <p:cNvSpPr/>
          <p:nvPr/>
        </p:nvSpPr>
        <p:spPr>
          <a:xfrm>
            <a:off x="4764024" y="1463040"/>
            <a:ext cx="1234440" cy="1005840"/>
          </a:xfrm>
          <a:prstGeom prst="rect">
            <a:avLst/>
          </a:prstGeom>
          <a:solidFill>
            <a:srgbClr val="1A7A8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764024" y="1536192"/>
            <a:ext cx="1234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Refinamiento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5"/>
          <p:cNvCxnSpPr/>
          <p:nvPr/>
        </p:nvCxnSpPr>
        <p:spPr>
          <a:xfrm>
            <a:off x="5998464" y="1965960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5"/>
          <p:cNvSpPr/>
          <p:nvPr/>
        </p:nvSpPr>
        <p:spPr>
          <a:xfrm>
            <a:off x="6199632" y="1463040"/>
            <a:ext cx="1234440" cy="1005840"/>
          </a:xfrm>
          <a:prstGeom prst="rect">
            <a:avLst/>
          </a:prstGeom>
          <a:solidFill>
            <a:srgbClr val="1A7A8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199632" y="1536192"/>
            <a:ext cx="1234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 v2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5"/>
          <p:cNvCxnSpPr/>
          <p:nvPr/>
        </p:nvCxnSpPr>
        <p:spPr>
          <a:xfrm>
            <a:off x="7434072" y="1965960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5"/>
          <p:cNvSpPr/>
          <p:nvPr/>
        </p:nvSpPr>
        <p:spPr>
          <a:xfrm>
            <a:off x="7635240" y="1463040"/>
            <a:ext cx="1234440" cy="1005840"/>
          </a:xfrm>
          <a:prstGeom prst="rect">
            <a:avLst/>
          </a:prstGeom>
          <a:solidFill>
            <a:srgbClr val="053D63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635240" y="1536192"/>
            <a:ext cx="1234440" cy="86868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Artefacto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737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Lean Inception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Visión · Es-No Es · Personas · Features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Visión del Producto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728215" y="658368"/>
            <a:ext cx="2743200" cy="393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728215" y="658368"/>
            <a:ext cx="2743200" cy="384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819655" y="694944"/>
            <a:ext cx="2560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Versión Inicial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865375" y="1161288"/>
            <a:ext cx="2469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Para</a:t>
            </a:r>
            <a: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: cualquier persona o negocio que necesite gestionar turnos</a:t>
            </a:r>
            <a:b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quienes</a:t>
            </a:r>
            <a: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: necesitan organizar citas y horarios de forma digital</a:t>
            </a:r>
            <a:b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es un</a:t>
            </a:r>
            <a: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: aplicación web de gestión de turnos</a:t>
            </a:r>
            <a:b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: permite agendar, cancelar y visualizar turnos de forma online</a:t>
            </a:r>
            <a:b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diferente a</a:t>
            </a:r>
            <a: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: agendas en papel o planillas de Excel</a:t>
            </a:r>
            <a:b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nuestro producto</a:t>
            </a:r>
            <a: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: ofrece una solución digital moderna para gestionar turnos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7"/>
          <p:cNvCxnSpPr/>
          <p:nvPr/>
        </p:nvCxnSpPr>
        <p:spPr>
          <a:xfrm>
            <a:off x="4471415" y="2578608"/>
            <a:ext cx="201300" cy="0"/>
          </a:xfrm>
          <a:prstGeom prst="straightConnector1">
            <a:avLst/>
          </a:prstGeom>
          <a:noFill/>
          <a:ln cap="flat" cmpd="sng" w="254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7"/>
          <p:cNvSpPr/>
          <p:nvPr/>
        </p:nvSpPr>
        <p:spPr>
          <a:xfrm>
            <a:off x="4672583" y="658368"/>
            <a:ext cx="2743200" cy="393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672583" y="658368"/>
            <a:ext cx="2743200" cy="384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764023" y="694944"/>
            <a:ext cx="2560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de Refinamiento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809743" y="1161288"/>
            <a:ext cx="2469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Refiná esta Product Vision considerando que el público objetivo son profesionales independientes de servicios (médicos, peluqueros, psicólogos) y sus clientes.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65e49d609_0_4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d65e49d609_0_4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d65e49d609_0_4"/>
          <p:cNvSpPr/>
          <p:nvPr/>
        </p:nvSpPr>
        <p:spPr>
          <a:xfrm>
            <a:off x="320040" y="73152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Visión del Producto —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d65e49d609_0_4"/>
          <p:cNvSpPr/>
          <p:nvPr/>
        </p:nvSpPr>
        <p:spPr>
          <a:xfrm>
            <a:off x="863625" y="658375"/>
            <a:ext cx="7199700" cy="384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d65e49d609_0_4"/>
          <p:cNvSpPr/>
          <p:nvPr/>
        </p:nvSpPr>
        <p:spPr>
          <a:xfrm>
            <a:off x="957991" y="694976"/>
            <a:ext cx="583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iterado y refinado con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g3d65e49d609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625" y="1042375"/>
            <a:ext cx="7199701" cy="341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Es – No Es — Evolución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20040" y="640080"/>
            <a:ext cx="411480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20040" y="640080"/>
            <a:ext cx="4114800" cy="4389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11480" y="640080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HACE PREVIO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48640" y="1170432"/>
            <a:ext cx="3657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“No saca turnos en base a promos”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“No rechaza clientes de forma automática”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“No reprograma turnos automáticamente“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709160" y="640080"/>
            <a:ext cx="411480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709160" y="640080"/>
            <a:ext cx="4114800" cy="438912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800600" y="640080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HACE ACTUAL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937760" y="1170432"/>
            <a:ext cx="3657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permite buscar ni descubrir profesionales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almacena historiales clínicos, expedientes ni información sensible del servicio prestado.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listas de espera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permite calificaciones ni reseñas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Definición de Personas — Evolución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20075" y="658375"/>
            <a:ext cx="8503800" cy="402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206218" y="758940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337488" y="1770050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Mariana - Dueña de Peluquería</a:t>
            </a:r>
            <a:endParaRPr b="1" sz="1300">
              <a:solidFill>
                <a:srgbClr val="1A2E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1A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02920" y="20299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Rol: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02924" y="2231125"/>
            <a:ext cx="8179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Mujer de 42 años, tiene una peluquería con 4 peluqueros/as y una manicurista. Cada uno maneja servicios distintos (corte, color, alisado, uñas) con duraciones y precios diferentes. Ella no atiende clientes, se dedica a coordinar el equipo y manejar el negocio.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02920" y="254203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Comportamiento</a:t>
            </a: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02925" y="2743200"/>
            <a:ext cx="817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Coordina los horarios de 5 personas por WhatsApp y una planilla de ExcelLos clientes llaman al local y preguntan por un peluquero específico, pero a veces no sabe quién tiene disponibilidad. Necesita saber cuántos turnos tuvo cada peluquero al final del mes. Cuando alguien del equipo falta, tiene que avisar uno por uno a los clientes de ese día</a:t>
            </a:r>
            <a:endParaRPr sz="1000">
              <a:solidFill>
                <a:srgbClr val="6B7A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02920" y="3329371"/>
            <a:ext cx="2377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Necesidades</a:t>
            </a: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02937" y="3374115"/>
            <a:ext cx="81798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Gestionar la agenda de múltiples profesionales desde un solo lugar</a:t>
            </a:r>
            <a:endParaRPr sz="1000">
              <a:solidFill>
                <a:srgbClr val="6B7A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Que cada peluquero tenga su propia disponibilidad y servicios configurados</a:t>
            </a:r>
            <a:endParaRPr sz="1000">
              <a:solidFill>
                <a:srgbClr val="6B7A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Que los clientes elijan profesional y servicio al reservar</a:t>
            </a:r>
            <a:endParaRPr sz="1000">
              <a:solidFill>
                <a:srgbClr val="6B7A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Tener visibilidad general de la ocupación del local completo</a:t>
            </a:r>
            <a:endParaRPr sz="1000">
              <a:solidFill>
                <a:srgbClr val="6B7A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Poder bloquear la agenda de un profesional cuando falta o se va de vacaciones</a:t>
            </a:r>
            <a:endParaRPr sz="1000">
              <a:solidFill>
                <a:srgbClr val="6B7A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0971" y="758950"/>
            <a:ext cx="1062066" cy="9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Features — Evolución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10"/>
          <p:cNvGraphicFramePr/>
          <p:nvPr/>
        </p:nvGraphicFramePr>
        <p:xfrm>
          <a:off x="1461715" y="6845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{87898E4F-D351-49F4-AB3A-22A79A5EF6B2}</a:tableStyleId>
              </a:tblPr>
              <a:tblGrid>
                <a:gridCol w="3110275"/>
                <a:gridCol w="3110275"/>
              </a:tblGrid>
              <a:tr h="67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Original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Iterada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3D63"/>
                    </a:solidFill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Recibir notificaciones cuando se acerca el turno (recordatorio whatsapp al cliente)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Recordatorios automáticos por WhatsApp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Permitir realizar pago de seña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 online para confirmar turno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Personalizacion del formulario de turnos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Formularios de reserva personalizables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Integracion Google Calendar para mostrar los turnos agendados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Sincronización con Google Calendar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Recibir notificaciones cuando se agenda/cancela un turno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Notificaciones de actividad en agenda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0"/>
          <p:cNvSpPr/>
          <p:nvPr/>
        </p:nvSpPr>
        <p:spPr>
          <a:xfrm>
            <a:off x="7317600" y="3321450"/>
            <a:ext cx="1775700" cy="1518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“Propone iteraciones nuevas en los nombres para que sea más específica, coherente con el producto y que deje claro los límites funcionales del sistema.”</a:t>
            </a:r>
            <a:endParaRPr b="1" sz="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737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Desarrollo de Producto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USM · User Stories · Product Backlog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73fef2247_1_8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973fef2247_1_81"/>
          <p:cNvSpPr/>
          <p:nvPr/>
        </p:nvSpPr>
        <p:spPr>
          <a:xfrm>
            <a:off x="0" y="0"/>
            <a:ext cx="3153900" cy="51435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973fef2247_1_81"/>
          <p:cNvSpPr/>
          <p:nvPr/>
        </p:nvSpPr>
        <p:spPr>
          <a:xfrm>
            <a:off x="451919" y="1645925"/>
            <a:ext cx="3153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</a:t>
            </a: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g3973fef2247_1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621" y="952375"/>
            <a:ext cx="4316124" cy="323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73fef2247_1_0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973fef2247_1_0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73fef2247_1_0"/>
          <p:cNvSpPr/>
          <p:nvPr/>
        </p:nvSpPr>
        <p:spPr>
          <a:xfrm>
            <a:off x="320040" y="73152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User Story Mapping —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 Base y Corte MVP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973fef2247_1_0"/>
          <p:cNvSpPr/>
          <p:nvPr/>
        </p:nvSpPr>
        <p:spPr>
          <a:xfrm>
            <a:off x="7832150" y="81075"/>
            <a:ext cx="1202700" cy="340800"/>
          </a:xfrm>
          <a:prstGeom prst="roundRect">
            <a:avLst>
              <a:gd fmla="val 16000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973fef2247_1_0"/>
          <p:cNvSpPr/>
          <p:nvPr/>
        </p:nvSpPr>
        <p:spPr>
          <a:xfrm>
            <a:off x="7832145" y="22859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Iteración 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g3973fef2247_1_0"/>
          <p:cNvGrpSpPr/>
          <p:nvPr/>
        </p:nvGrpSpPr>
        <p:grpSpPr>
          <a:xfrm>
            <a:off x="320040" y="1652475"/>
            <a:ext cx="4023310" cy="1934700"/>
            <a:chOff x="320040" y="1652475"/>
            <a:chExt cx="4023310" cy="1934700"/>
          </a:xfrm>
        </p:grpSpPr>
        <p:sp>
          <p:nvSpPr>
            <p:cNvPr id="222" name="Google Shape;222;g3973fef2247_1_0"/>
            <p:cNvSpPr/>
            <p:nvPr/>
          </p:nvSpPr>
          <p:spPr>
            <a:xfrm>
              <a:off x="320050" y="1652475"/>
              <a:ext cx="4023300" cy="1934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23" name="Google Shape;223;g3973fef2247_1_0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solidFill>
              <a:srgbClr val="1B2A4A"/>
            </a:solidFill>
            <a:ln cap="flat" cmpd="sng" w="12700">
              <a:solidFill>
                <a:srgbClr val="1B2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24" name="Google Shape;224;g3973fef2247_1_0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🤖  PROMPT enviado a la IA</a:t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g3973fef2247_1_0"/>
            <p:cNvSpPr/>
            <p:nvPr/>
          </p:nvSpPr>
          <p:spPr>
            <a:xfrm>
              <a:off x="457200" y="2091400"/>
              <a:ext cx="37491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rPr i="1" lang="en-US" sz="1200">
                  <a:solidFill>
                    <a:srgbClr val="0F172A"/>
                  </a:solidFill>
                </a:rPr>
                <a:t>“Actúa como Product Manager. Basándonos en nuestras Personas y features documentadas, estructura la épica de 'Configuración de Agenda'. Definí los User Steps cronológicos y aplica una división estricta: qué historias entran en el MVP (Plan Gratuito) y cuáles se difieren al Backlog futuro (Plan Premium)”</a:t>
              </a:r>
              <a:endParaRPr i="0" sz="12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226" name="Google Shape;226;g3973fef2247_1_0"/>
          <p:cNvGrpSpPr/>
          <p:nvPr/>
        </p:nvGrpSpPr>
        <p:grpSpPr>
          <a:xfrm>
            <a:off x="4572000" y="822949"/>
            <a:ext cx="4251900" cy="1069525"/>
            <a:chOff x="4572000" y="822949"/>
            <a:chExt cx="4251900" cy="1069525"/>
          </a:xfrm>
        </p:grpSpPr>
        <p:sp>
          <p:nvSpPr>
            <p:cNvPr id="227" name="Google Shape;227;g3973fef2247_1_0"/>
            <p:cNvSpPr/>
            <p:nvPr/>
          </p:nvSpPr>
          <p:spPr>
            <a:xfrm>
              <a:off x="4572000" y="822949"/>
              <a:ext cx="4251900" cy="1069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g3973fef2247_1_0"/>
            <p:cNvSpPr/>
            <p:nvPr/>
          </p:nvSpPr>
          <p:spPr>
            <a:xfrm>
              <a:off x="4572000" y="822960"/>
              <a:ext cx="4251900" cy="384000"/>
            </a:xfrm>
            <a:prstGeom prst="rect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g3973fef2247_1_0"/>
            <p:cNvSpPr/>
            <p:nvPr/>
          </p:nvSpPr>
          <p:spPr>
            <a:xfrm>
              <a:off x="4572000" y="822960"/>
              <a:ext cx="425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✅  RESULTADO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973fef2247_1_0"/>
            <p:cNvSpPr/>
            <p:nvPr/>
          </p:nvSpPr>
          <p:spPr>
            <a:xfrm>
              <a:off x="4709150" y="1261874"/>
              <a:ext cx="3977700" cy="63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rPr lang="en-US" sz="1100">
                  <a:solidFill>
                    <a:srgbClr val="0F172A"/>
                  </a:solidFill>
                </a:rPr>
                <a:t>La IA aplicó un criterio de priorización, cruzando automáticamente el impacto para el usuario contra el costo técnico de implementación.</a:t>
              </a:r>
              <a:endParaRPr sz="1100">
                <a:solidFill>
                  <a:srgbClr val="0F172A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t/>
              </a:r>
              <a:endParaRPr sz="10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g3973fef2247_1_0"/>
          <p:cNvSpPr/>
          <p:nvPr/>
        </p:nvSpPr>
        <p:spPr>
          <a:xfrm>
            <a:off x="4610650" y="2120320"/>
            <a:ext cx="4251900" cy="99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Quedaron en el </a:t>
            </a:r>
            <a:r>
              <a:rPr b="1" lang="en-US" sz="1100">
                <a:solidFill>
                  <a:schemeClr val="dk1"/>
                </a:solidFill>
              </a:rPr>
              <a:t>MVP gratuito</a:t>
            </a:r>
            <a:r>
              <a:rPr lang="en-US" sz="1100">
                <a:solidFill>
                  <a:schemeClr val="dk1"/>
                </a:solidFill>
              </a:rPr>
              <a:t> las funcionalidades de alta frecuencia de uso y bajo riesgo técnico: registro de usuarios, configuración de disponibilidad, reserva y cancelación de turnos</a:t>
            </a:r>
            <a:endParaRPr/>
          </a:p>
        </p:txBody>
      </p:sp>
      <p:sp>
        <p:nvSpPr>
          <p:cNvPr id="232" name="Google Shape;232;g3973fef2247_1_0"/>
          <p:cNvSpPr/>
          <p:nvPr/>
        </p:nvSpPr>
        <p:spPr>
          <a:xfrm>
            <a:off x="4610650" y="3417674"/>
            <a:ext cx="4251900" cy="112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Quedaron para el </a:t>
            </a:r>
            <a:r>
              <a:rPr b="1" lang="en-US" sz="1100">
                <a:solidFill>
                  <a:schemeClr val="dk1"/>
                </a:solidFill>
              </a:rPr>
              <a:t>plan Premium</a:t>
            </a:r>
            <a:r>
              <a:rPr lang="en-US" sz="1100">
                <a:solidFill>
                  <a:schemeClr val="dk1"/>
                </a:solidFill>
              </a:rPr>
              <a:t> entre otras cosas las integraciones con terceros (por ejemplo: Google Calendar), porque cada una requiere aprobación externa, tiene costos variables y agrega complejidad de mantenimiento.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=&gt; Patearlas no es arbitrario: es una decisión técnica que protege el time-to-market.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73fef2247_1_19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973fef2247_1_19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973fef2247_1_19"/>
          <p:cNvSpPr/>
          <p:nvPr/>
        </p:nvSpPr>
        <p:spPr>
          <a:xfrm>
            <a:off x="320040" y="73152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User Stories —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Validación de Restricciones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g3973fef2247_1_19"/>
          <p:cNvGrpSpPr/>
          <p:nvPr/>
        </p:nvGrpSpPr>
        <p:grpSpPr>
          <a:xfrm>
            <a:off x="320040" y="1652475"/>
            <a:ext cx="4023310" cy="1934700"/>
            <a:chOff x="320040" y="1652475"/>
            <a:chExt cx="4023310" cy="1934700"/>
          </a:xfrm>
        </p:grpSpPr>
        <p:sp>
          <p:nvSpPr>
            <p:cNvPr id="242" name="Google Shape;242;g3973fef2247_1_19"/>
            <p:cNvSpPr/>
            <p:nvPr/>
          </p:nvSpPr>
          <p:spPr>
            <a:xfrm>
              <a:off x="320050" y="1652475"/>
              <a:ext cx="4023300" cy="1934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43" name="Google Shape;243;g3973fef2247_1_19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solidFill>
              <a:srgbClr val="1B2A4A"/>
            </a:solidFill>
            <a:ln cap="flat" cmpd="sng" w="12700">
              <a:solidFill>
                <a:srgbClr val="1B2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44" name="Google Shape;244;g3973fef2247_1_19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🤖  PROMPT enviado a la IA</a:t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g3973fef2247_1_19"/>
            <p:cNvSpPr/>
            <p:nvPr/>
          </p:nvSpPr>
          <p:spPr>
            <a:xfrm>
              <a:off x="457150" y="2279175"/>
              <a:ext cx="37491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rPr i="1" lang="en-US" sz="1200">
                  <a:solidFill>
                    <a:srgbClr val="0F172A"/>
                  </a:solidFill>
                </a:rPr>
                <a:t>"Analizando la épica de Reserva del Cliente, noto que no hay un buscador global. Teniendo en cuenta nuestro documento fundacional de 'Es / No Es', ¿qué debería ver un usuario si intenta buscar un servicio sin tener el link directo de un profesional? Evaluemos el impacto en el alcance."</a:t>
              </a:r>
              <a:endParaRPr i="0" sz="12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246" name="Google Shape;246;g3973fef2247_1_19"/>
          <p:cNvGrpSpPr/>
          <p:nvPr/>
        </p:nvGrpSpPr>
        <p:grpSpPr>
          <a:xfrm>
            <a:off x="4610650" y="699987"/>
            <a:ext cx="4251900" cy="1579200"/>
            <a:chOff x="4610650" y="699987"/>
            <a:chExt cx="4251900" cy="1579200"/>
          </a:xfrm>
        </p:grpSpPr>
        <p:sp>
          <p:nvSpPr>
            <p:cNvPr id="247" name="Google Shape;247;g3973fef2247_1_19"/>
            <p:cNvSpPr/>
            <p:nvPr/>
          </p:nvSpPr>
          <p:spPr>
            <a:xfrm>
              <a:off x="4610650" y="699987"/>
              <a:ext cx="4251900" cy="1579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g3973fef2247_1_19"/>
            <p:cNvSpPr/>
            <p:nvPr/>
          </p:nvSpPr>
          <p:spPr>
            <a:xfrm>
              <a:off x="4610650" y="699998"/>
              <a:ext cx="4251900" cy="384000"/>
            </a:xfrm>
            <a:prstGeom prst="rect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g3973fef2247_1_19"/>
            <p:cNvSpPr/>
            <p:nvPr/>
          </p:nvSpPr>
          <p:spPr>
            <a:xfrm>
              <a:off x="4610650" y="699998"/>
              <a:ext cx="425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✅  RESULTADO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g3973fef2247_1_19"/>
            <p:cNvSpPr/>
            <p:nvPr/>
          </p:nvSpPr>
          <p:spPr>
            <a:xfrm>
              <a:off x="4747800" y="1138900"/>
              <a:ext cx="39777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rPr lang="en-US" sz="1100">
                  <a:solidFill>
                    <a:srgbClr val="0F172A"/>
                  </a:solidFill>
                </a:rPr>
                <a:t>La IA </a:t>
              </a:r>
              <a:r>
                <a:rPr b="1" lang="en-US" sz="1100">
                  <a:solidFill>
                    <a:srgbClr val="0F172A"/>
                  </a:solidFill>
                </a:rPr>
                <a:t>detectó </a:t>
              </a:r>
              <a:r>
                <a:rPr lang="en-US" sz="1100">
                  <a:solidFill>
                    <a:srgbClr val="0F172A"/>
                  </a:solidFill>
                </a:rPr>
                <a:t>una </a:t>
              </a:r>
              <a:r>
                <a:rPr b="1" lang="en-US" sz="1100">
                  <a:solidFill>
                    <a:srgbClr val="0F172A"/>
                  </a:solidFill>
                </a:rPr>
                <a:t>inconsistencia </a:t>
              </a:r>
              <a:r>
                <a:rPr lang="en-US" sz="1100">
                  <a:solidFill>
                    <a:srgbClr val="0F172A"/>
                  </a:solidFill>
                </a:rPr>
                <a:t>de scope: el flujo de reserva estaba implícitamente asumiendo un buscador global que el documento </a:t>
              </a:r>
              <a:r>
                <a:rPr b="1" i="1" lang="en-US" sz="1100">
                  <a:solidFill>
                    <a:srgbClr val="0F172A"/>
                  </a:solidFill>
                </a:rPr>
                <a:t>"Es / No Es"</a:t>
              </a:r>
              <a:r>
                <a:rPr lang="en-US" sz="1100">
                  <a:solidFill>
                    <a:srgbClr val="0F172A"/>
                  </a:solidFill>
                </a:rPr>
                <a:t> explícitamente descartaba. En lugar de completar el flujo sin cuestionar, cruzó ambos documentos y alertó la contradicción antes de que llegara a desarrollo.</a:t>
              </a:r>
              <a:endParaRPr sz="1100">
                <a:solidFill>
                  <a:srgbClr val="0F172A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t/>
              </a:r>
              <a:endParaRPr sz="10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g3973fef2247_1_19"/>
          <p:cNvSpPr/>
          <p:nvPr/>
        </p:nvSpPr>
        <p:spPr>
          <a:xfrm>
            <a:off x="4610650" y="2613325"/>
            <a:ext cx="4251900" cy="749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La corrección fue concreta: el cliente solo puede reservar a través del </a:t>
            </a:r>
            <a:r>
              <a:rPr b="1" lang="en-US" sz="1100">
                <a:solidFill>
                  <a:schemeClr val="dk1"/>
                </a:solidFill>
              </a:rPr>
              <a:t>link único de su profesional</a:t>
            </a:r>
            <a:r>
              <a:rPr lang="en-US" sz="1100">
                <a:solidFill>
                  <a:schemeClr val="dk1"/>
                </a:solidFill>
              </a:rPr>
              <a:t>, eliminando por completo la necesidad de un módulo de descubrimiento.</a:t>
            </a:r>
            <a:endParaRPr/>
          </a:p>
        </p:txBody>
      </p:sp>
      <p:sp>
        <p:nvSpPr>
          <p:cNvPr id="252" name="Google Shape;252;g3973fef2247_1_19"/>
          <p:cNvSpPr/>
          <p:nvPr/>
        </p:nvSpPr>
        <p:spPr>
          <a:xfrm>
            <a:off x="4610700" y="3582350"/>
            <a:ext cx="4251900" cy="99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Esto ilustra uno de los usos más valiosos del desarrollo agéntico: no solo generar contenido, sino </a:t>
            </a:r>
            <a:r>
              <a:rPr b="1" lang="en-US" sz="1100">
                <a:solidFill>
                  <a:schemeClr val="dk1"/>
                </a:solidFill>
              </a:rPr>
              <a:t>actuar como mecanismo de control de consistencia</a:t>
            </a:r>
            <a:r>
              <a:rPr lang="en-US" sz="1100">
                <a:solidFill>
                  <a:schemeClr val="dk1"/>
                </a:solidFill>
              </a:rPr>
              <a:t> entre decisiones tomadas en distintos momentos del proyecto.</a:t>
            </a:r>
            <a:endParaRPr/>
          </a:p>
        </p:txBody>
      </p:sp>
      <p:sp>
        <p:nvSpPr>
          <p:cNvPr id="253" name="Google Shape;253;g3973fef2247_1_19"/>
          <p:cNvSpPr/>
          <p:nvPr/>
        </p:nvSpPr>
        <p:spPr>
          <a:xfrm>
            <a:off x="7761825" y="81075"/>
            <a:ext cx="1202700" cy="340800"/>
          </a:xfrm>
          <a:prstGeom prst="roundRect">
            <a:avLst>
              <a:gd fmla="val 16000" name="adj"/>
            </a:avLst>
          </a:prstGeom>
          <a:solidFill>
            <a:srgbClr val="7C3AED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973fef2247_1_19"/>
          <p:cNvSpPr/>
          <p:nvPr/>
        </p:nvSpPr>
        <p:spPr>
          <a:xfrm>
            <a:off x="7723120" y="36585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Iteración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73fef2247_1_38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973fef2247_1_38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973fef2247_1_38"/>
          <p:cNvSpPr/>
          <p:nvPr/>
        </p:nvSpPr>
        <p:spPr>
          <a:xfrm>
            <a:off x="320040" y="73152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User Stories —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Granularidad y Artefacto Final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g3973fef2247_1_38"/>
          <p:cNvGrpSpPr/>
          <p:nvPr/>
        </p:nvGrpSpPr>
        <p:grpSpPr>
          <a:xfrm>
            <a:off x="320040" y="1652475"/>
            <a:ext cx="4023310" cy="1934700"/>
            <a:chOff x="320040" y="1652475"/>
            <a:chExt cx="4023310" cy="1934700"/>
          </a:xfrm>
        </p:grpSpPr>
        <p:sp>
          <p:nvSpPr>
            <p:cNvPr id="264" name="Google Shape;264;g3973fef2247_1_38"/>
            <p:cNvSpPr/>
            <p:nvPr/>
          </p:nvSpPr>
          <p:spPr>
            <a:xfrm>
              <a:off x="320050" y="1652475"/>
              <a:ext cx="4023300" cy="1934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65" name="Google Shape;265;g3973fef2247_1_38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solidFill>
              <a:srgbClr val="1B2A4A"/>
            </a:solidFill>
            <a:ln cap="flat" cmpd="sng" w="12700">
              <a:solidFill>
                <a:srgbClr val="1B2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66" name="Google Shape;266;g3973fef2247_1_38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🤖  PROMPT enviado a la IA</a:t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g3973fef2247_1_38"/>
            <p:cNvSpPr/>
            <p:nvPr/>
          </p:nvSpPr>
          <p:spPr>
            <a:xfrm>
              <a:off x="457150" y="2279175"/>
              <a:ext cx="37491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rPr i="1" lang="en-US" sz="1200">
                  <a:solidFill>
                    <a:srgbClr val="0F172A"/>
                  </a:solidFill>
                </a:rPr>
                <a:t>"Hagamoslo más granular: El nivel de detalle en la épica de 'Acceso' del Cliente está muy por arriba. Necesito que desgloses estos User Steps con la misma profundidad y rigor que aplicamos para el rol del Profesional."</a:t>
              </a:r>
              <a:endParaRPr i="0" sz="12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268" name="Google Shape;268;g3973fef2247_1_38"/>
          <p:cNvGrpSpPr/>
          <p:nvPr/>
        </p:nvGrpSpPr>
        <p:grpSpPr>
          <a:xfrm>
            <a:off x="4571950" y="1225425"/>
            <a:ext cx="4251900" cy="1579200"/>
            <a:chOff x="4571950" y="1225425"/>
            <a:chExt cx="4251900" cy="1579200"/>
          </a:xfrm>
        </p:grpSpPr>
        <p:sp>
          <p:nvSpPr>
            <p:cNvPr id="269" name="Google Shape;269;g3973fef2247_1_38"/>
            <p:cNvSpPr/>
            <p:nvPr/>
          </p:nvSpPr>
          <p:spPr>
            <a:xfrm>
              <a:off x="4571950" y="1225425"/>
              <a:ext cx="4251900" cy="1579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g3973fef2247_1_38"/>
            <p:cNvSpPr/>
            <p:nvPr/>
          </p:nvSpPr>
          <p:spPr>
            <a:xfrm>
              <a:off x="4571950" y="1225435"/>
              <a:ext cx="4251900" cy="384000"/>
            </a:xfrm>
            <a:prstGeom prst="rect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g3973fef2247_1_38"/>
            <p:cNvSpPr/>
            <p:nvPr/>
          </p:nvSpPr>
          <p:spPr>
            <a:xfrm>
              <a:off x="4571950" y="1225435"/>
              <a:ext cx="425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✅  RESULTADO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g3973fef2247_1_38"/>
            <p:cNvSpPr/>
            <p:nvPr/>
          </p:nvSpPr>
          <p:spPr>
            <a:xfrm>
              <a:off x="4709100" y="1664338"/>
              <a:ext cx="39777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</a:rPr>
                <a:t>Al forzar el mismo nivel de detalle técnico para el rol Cliente, surgieron dos hallazgos que no estaban en el mapa original. Primero, el flujo de </a:t>
              </a:r>
              <a:r>
                <a:rPr b="1" lang="en-US" sz="1100">
                  <a:solidFill>
                    <a:schemeClr val="dk1"/>
                  </a:solidFill>
                </a:rPr>
                <a:t>re-reserva rápida</a:t>
              </a:r>
              <a:r>
                <a:rPr lang="en-US" sz="1100">
                  <a:solidFill>
                    <a:schemeClr val="dk1"/>
                  </a:solidFill>
                </a:rPr>
                <a:t>: un cliente que ya reservó una vez debería poder repetir el turno con un clic, sin volver a completar el formulario — funcionalidad de alto valor para usuarios recurrentes. </a:t>
              </a:r>
              <a:endParaRPr sz="10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g3973fef2247_1_38"/>
          <p:cNvSpPr/>
          <p:nvPr/>
        </p:nvSpPr>
        <p:spPr>
          <a:xfrm>
            <a:off x="4571950" y="3015539"/>
            <a:ext cx="4251900" cy="99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Segundo, quedó claro que el rol </a:t>
            </a:r>
            <a:r>
              <a:rPr b="1" lang="en-US" sz="1100">
                <a:solidFill>
                  <a:schemeClr val="dk1"/>
                </a:solidFill>
              </a:rPr>
              <a:t>Grupo de Profesionales</a:t>
            </a:r>
            <a:r>
              <a:rPr lang="en-US" sz="1100">
                <a:solidFill>
                  <a:schemeClr val="dk1"/>
                </a:solidFill>
              </a:rPr>
              <a:t> (dueño de peluquería, por ejemplo) tiene una complejidad de gestión que no puede convivir con el plan gratuito: necesita visibilidad de múltiples agendas simultáneas, lo que lo ubica directamente en el tier Premium.</a:t>
            </a:r>
            <a:endParaRPr/>
          </a:p>
        </p:txBody>
      </p:sp>
      <p:sp>
        <p:nvSpPr>
          <p:cNvPr id="274" name="Google Shape;274;g3973fef2247_1_38"/>
          <p:cNvSpPr/>
          <p:nvPr/>
        </p:nvSpPr>
        <p:spPr>
          <a:xfrm>
            <a:off x="7765375" y="96000"/>
            <a:ext cx="1280100" cy="310500"/>
          </a:xfrm>
          <a:prstGeom prst="roundRect">
            <a:avLst>
              <a:gd fmla="val 16000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973fef2247_1_38"/>
          <p:cNvSpPr/>
          <p:nvPr/>
        </p:nvSpPr>
        <p:spPr>
          <a:xfrm>
            <a:off x="7723120" y="36585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Iteración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73fef2247_1_56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973fef2247_1_56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973fef2247_1_56"/>
          <p:cNvSpPr/>
          <p:nvPr/>
        </p:nvSpPr>
        <p:spPr>
          <a:xfrm>
            <a:off x="320040" y="73152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User Stor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Mapping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g3973fef2247_1_56"/>
          <p:cNvGrpSpPr/>
          <p:nvPr/>
        </p:nvGrpSpPr>
        <p:grpSpPr>
          <a:xfrm>
            <a:off x="683075" y="1363225"/>
            <a:ext cx="7689947" cy="2803944"/>
            <a:chOff x="683075" y="1363225"/>
            <a:chExt cx="7689947" cy="2803944"/>
          </a:xfrm>
        </p:grpSpPr>
        <p:sp>
          <p:nvSpPr>
            <p:cNvPr id="285" name="Google Shape;285;g3973fef2247_1_56"/>
            <p:cNvSpPr txBox="1"/>
            <p:nvPr/>
          </p:nvSpPr>
          <p:spPr>
            <a:xfrm>
              <a:off x="964822" y="1640660"/>
              <a:ext cx="7408200" cy="189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400" lIns="102400" spcFirstLastPara="1" rIns="102400" wrap="square" tIns="1024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68"/>
                <a:t>Un agente </a:t>
              </a:r>
              <a:r>
                <a:rPr b="1" i="1" lang="en-US" sz="1568"/>
                <a:t>es tan bueno como el contexto</a:t>
              </a:r>
              <a:r>
                <a:rPr i="1" lang="en-US" sz="1568"/>
                <a:t> que recibe. En las tres iteraciones, la calidad del resultado dependió directamente de qué tan bien estaban escritos los documentos base — Personas, Features, Es/No Es. Donde esos documentos eran vagos, las respuestas del agente también lo fueron. Eso no es una falla de la herramienta: es la evidencia de que el pensamiento humano sigue siendo el insumo principal. El agente no reemplaza el trabajo de inception — lo hace más robusto.</a:t>
              </a:r>
              <a:endParaRPr i="1" sz="4480"/>
            </a:p>
          </p:txBody>
        </p:sp>
        <p:sp>
          <p:nvSpPr>
            <p:cNvPr id="286" name="Google Shape;286;g3973fef2247_1_56"/>
            <p:cNvSpPr txBox="1"/>
            <p:nvPr/>
          </p:nvSpPr>
          <p:spPr>
            <a:xfrm>
              <a:off x="4884777" y="2925769"/>
              <a:ext cx="572100" cy="12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400" lIns="102400" spcFirstLastPara="1" rIns="102400" wrap="square" tIns="1024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6720">
                  <a:solidFill>
                    <a:schemeClr val="dk1"/>
                  </a:solidFill>
                </a:rPr>
                <a:t>”</a:t>
              </a:r>
              <a:endParaRPr i="1" sz="6720"/>
            </a:p>
          </p:txBody>
        </p:sp>
        <p:sp>
          <p:nvSpPr>
            <p:cNvPr id="287" name="Google Shape;287;g3973fef2247_1_56"/>
            <p:cNvSpPr txBox="1"/>
            <p:nvPr/>
          </p:nvSpPr>
          <p:spPr>
            <a:xfrm>
              <a:off x="683075" y="1363225"/>
              <a:ext cx="572100" cy="12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400" lIns="102400" spcFirstLastPara="1" rIns="102400" wrap="square" tIns="1024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6720">
                  <a:solidFill>
                    <a:schemeClr val="dk1"/>
                  </a:solidFill>
                </a:rPr>
                <a:t>“</a:t>
              </a:r>
              <a:endParaRPr i="1" sz="6720"/>
            </a:p>
          </p:txBody>
        </p:sp>
      </p:grpSp>
      <p:sp>
        <p:nvSpPr>
          <p:cNvPr id="288" name="Google Shape;288;g3973fef2247_1_56"/>
          <p:cNvSpPr txBox="1"/>
          <p:nvPr/>
        </p:nvSpPr>
        <p:spPr>
          <a:xfrm>
            <a:off x="8062500" y="4833100"/>
            <a:ext cx="10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USM final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737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Planificación de Proyectos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 · WBS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320040" y="59377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Cronograma del Proyecto — Gantt Simplificado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6"/>
          <p:cNvCxnSpPr/>
          <p:nvPr/>
        </p:nvCxnSpPr>
        <p:spPr>
          <a:xfrm>
            <a:off x="1912497" y="667453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6"/>
          <p:cNvSpPr/>
          <p:nvPr/>
        </p:nvSpPr>
        <p:spPr>
          <a:xfrm>
            <a:off x="1978657" y="667450"/>
            <a:ext cx="71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6"/>
          <p:cNvCxnSpPr/>
          <p:nvPr/>
        </p:nvCxnSpPr>
        <p:spPr>
          <a:xfrm>
            <a:off x="2693010" y="667453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6"/>
          <p:cNvSpPr/>
          <p:nvPr/>
        </p:nvSpPr>
        <p:spPr>
          <a:xfrm>
            <a:off x="2755682" y="667463"/>
            <a:ext cx="70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6"/>
          <p:cNvCxnSpPr/>
          <p:nvPr/>
        </p:nvCxnSpPr>
        <p:spPr>
          <a:xfrm>
            <a:off x="3458582" y="667466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16"/>
          <p:cNvSpPr/>
          <p:nvPr/>
        </p:nvSpPr>
        <p:spPr>
          <a:xfrm>
            <a:off x="3520258" y="667463"/>
            <a:ext cx="70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16"/>
          <p:cNvCxnSpPr/>
          <p:nvPr/>
        </p:nvCxnSpPr>
        <p:spPr>
          <a:xfrm>
            <a:off x="4223158" y="667466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6"/>
          <p:cNvSpPr/>
          <p:nvPr/>
        </p:nvSpPr>
        <p:spPr>
          <a:xfrm>
            <a:off x="4284833" y="667463"/>
            <a:ext cx="70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6"/>
          <p:cNvCxnSpPr/>
          <p:nvPr/>
        </p:nvCxnSpPr>
        <p:spPr>
          <a:xfrm>
            <a:off x="4987733" y="667466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6"/>
          <p:cNvSpPr/>
          <p:nvPr/>
        </p:nvSpPr>
        <p:spPr>
          <a:xfrm>
            <a:off x="5049409" y="667463"/>
            <a:ext cx="70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16"/>
          <p:cNvCxnSpPr/>
          <p:nvPr/>
        </p:nvCxnSpPr>
        <p:spPr>
          <a:xfrm>
            <a:off x="5752309" y="667466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6"/>
          <p:cNvSpPr/>
          <p:nvPr/>
        </p:nvSpPr>
        <p:spPr>
          <a:xfrm>
            <a:off x="5813985" y="667463"/>
            <a:ext cx="70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6"/>
          <p:cNvCxnSpPr/>
          <p:nvPr/>
        </p:nvCxnSpPr>
        <p:spPr>
          <a:xfrm>
            <a:off x="6516884" y="667466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6"/>
          <p:cNvSpPr/>
          <p:nvPr/>
        </p:nvSpPr>
        <p:spPr>
          <a:xfrm>
            <a:off x="6578560" y="667463"/>
            <a:ext cx="70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6"/>
          <p:cNvCxnSpPr/>
          <p:nvPr/>
        </p:nvCxnSpPr>
        <p:spPr>
          <a:xfrm>
            <a:off x="7281460" y="667466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6"/>
          <p:cNvSpPr/>
          <p:nvPr/>
        </p:nvSpPr>
        <p:spPr>
          <a:xfrm>
            <a:off x="7343136" y="667463"/>
            <a:ext cx="70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6"/>
          <p:cNvCxnSpPr/>
          <p:nvPr/>
        </p:nvCxnSpPr>
        <p:spPr>
          <a:xfrm>
            <a:off x="8046035" y="667466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6"/>
          <p:cNvSpPr/>
          <p:nvPr/>
        </p:nvSpPr>
        <p:spPr>
          <a:xfrm>
            <a:off x="8107712" y="667463"/>
            <a:ext cx="70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16"/>
          <p:cNvCxnSpPr/>
          <p:nvPr/>
        </p:nvCxnSpPr>
        <p:spPr>
          <a:xfrm>
            <a:off x="8810611" y="667466"/>
            <a:ext cx="0" cy="400050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16"/>
          <p:cNvSpPr/>
          <p:nvPr/>
        </p:nvSpPr>
        <p:spPr>
          <a:xfrm>
            <a:off x="319950" y="994454"/>
            <a:ext cx="145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Lean Inception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1928450" y="1033217"/>
            <a:ext cx="764400" cy="255900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319950" y="1415084"/>
            <a:ext cx="145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Accesos y Puertas de Entrada</a:t>
            </a:r>
            <a:r>
              <a:rPr b="0" i="0" lang="en-US" sz="900" u="none" cap="none" strike="noStrik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1912497" y="1472197"/>
            <a:ext cx="1546800" cy="23760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319950" y="1835714"/>
            <a:ext cx="145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Configuración de la Rutina del Profesional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465395" y="1835701"/>
            <a:ext cx="764400" cy="25140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319950" y="2256344"/>
            <a:ext cx="145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Disponibilidad/</a:t>
            </a:r>
            <a:endParaRPr sz="900">
              <a:solidFill>
                <a:srgbClr val="1A2E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Solicitudes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4221515" y="2283781"/>
            <a:ext cx="764400" cy="27420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319950" y="2676974"/>
            <a:ext cx="145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Automatización y Asistencia Virtual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4987728" y="2722712"/>
            <a:ext cx="764400" cy="23760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319950" y="3097603"/>
            <a:ext cx="145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Flexibilidad y Manejo de Imprevistos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5743525" y="3097591"/>
            <a:ext cx="764400" cy="23760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319950" y="3518233"/>
            <a:ext cx="145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Centro de Comando y Gestión de Señas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319950" y="3938863"/>
            <a:ext cx="145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Pulido, Estabilización y Mejoras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319950" y="4334393"/>
            <a:ext cx="145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Entrega Oficial y Lanzamiento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6508100" y="3563971"/>
            <a:ext cx="764400" cy="23760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7281373" y="3984601"/>
            <a:ext cx="764400" cy="23760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8059412" y="4334380"/>
            <a:ext cx="764400" cy="23760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73fef2247_3_0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973fef2247_3_0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973fef2247_3_0"/>
          <p:cNvSpPr/>
          <p:nvPr/>
        </p:nvSpPr>
        <p:spPr>
          <a:xfrm>
            <a:off x="320040" y="73152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WBS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973fef2247_3_0"/>
          <p:cNvSpPr/>
          <p:nvPr/>
        </p:nvSpPr>
        <p:spPr>
          <a:xfrm>
            <a:off x="7832150" y="81075"/>
            <a:ext cx="1202700" cy="340800"/>
          </a:xfrm>
          <a:prstGeom prst="roundRect">
            <a:avLst>
              <a:gd fmla="val 16000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973fef2247_3_0"/>
          <p:cNvSpPr/>
          <p:nvPr/>
        </p:nvSpPr>
        <p:spPr>
          <a:xfrm>
            <a:off x="7832145" y="22859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Iteración 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3" name="Google Shape;353;g3973fef2247_3_0"/>
          <p:cNvGrpSpPr/>
          <p:nvPr/>
        </p:nvGrpSpPr>
        <p:grpSpPr>
          <a:xfrm>
            <a:off x="320048" y="1459245"/>
            <a:ext cx="2770854" cy="2523042"/>
            <a:chOff x="320040" y="1652475"/>
            <a:chExt cx="4023310" cy="1934700"/>
          </a:xfrm>
        </p:grpSpPr>
        <p:sp>
          <p:nvSpPr>
            <p:cNvPr id="354" name="Google Shape;354;g3973fef2247_3_0"/>
            <p:cNvSpPr/>
            <p:nvPr/>
          </p:nvSpPr>
          <p:spPr>
            <a:xfrm>
              <a:off x="320050" y="1652475"/>
              <a:ext cx="4023300" cy="1934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355" name="Google Shape;355;g3973fef2247_3_0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solidFill>
              <a:srgbClr val="1B2A4A"/>
            </a:solidFill>
            <a:ln cap="flat" cmpd="sng" w="12700">
              <a:solidFill>
                <a:srgbClr val="1B2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356" name="Google Shape;356;g3973fef2247_3_0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🤖  PROMPT enviado a la IA</a:t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g3973fef2247_3_0"/>
            <p:cNvSpPr/>
            <p:nvPr/>
          </p:nvSpPr>
          <p:spPr>
            <a:xfrm>
              <a:off x="457150" y="2160291"/>
              <a:ext cx="37491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rPr i="1" lang="en-US" sz="1200">
                  <a:solidFill>
                    <a:srgbClr val="0F172A"/>
                  </a:solidFill>
                </a:rPr>
                <a:t>“Actúa como Product Manager. Basándonos en </a:t>
              </a:r>
              <a:r>
                <a:rPr i="1" lang="en-US" sz="1200">
                  <a:solidFill>
                    <a:srgbClr val="0F172A"/>
                  </a:solidFill>
                </a:rPr>
                <a:t>primer borrador de la WBS para nuestro TP de la facultad (plataforma de reserva de turnos, enfoque Scrum) y las User Stories ya creadas. ¿Me podés dar feedback crítico?, ¿Cómo lo puedo mejorar para que tenga nivel profesional?</a:t>
              </a:r>
              <a:r>
                <a:rPr i="1" lang="en-US" sz="1200">
                  <a:solidFill>
                    <a:srgbClr val="0F172A"/>
                  </a:solidFill>
                </a:rPr>
                <a:t>”</a:t>
              </a:r>
              <a:endParaRPr i="0" sz="12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358" name="Google Shape;358;g3973fef2247_3_0"/>
          <p:cNvGrpSpPr/>
          <p:nvPr/>
        </p:nvGrpSpPr>
        <p:grpSpPr>
          <a:xfrm>
            <a:off x="3172734" y="822951"/>
            <a:ext cx="5862520" cy="3795627"/>
            <a:chOff x="4572000" y="822951"/>
            <a:chExt cx="4251900" cy="3795627"/>
          </a:xfrm>
        </p:grpSpPr>
        <p:sp>
          <p:nvSpPr>
            <p:cNvPr id="359" name="Google Shape;359;g3973fef2247_3_0"/>
            <p:cNvSpPr/>
            <p:nvPr/>
          </p:nvSpPr>
          <p:spPr>
            <a:xfrm>
              <a:off x="4572000" y="822951"/>
              <a:ext cx="4251900" cy="37956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g3973fef2247_3_0"/>
            <p:cNvSpPr/>
            <p:nvPr/>
          </p:nvSpPr>
          <p:spPr>
            <a:xfrm>
              <a:off x="4572000" y="822960"/>
              <a:ext cx="4251900" cy="384000"/>
            </a:xfrm>
            <a:prstGeom prst="rect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g3973fef2247_3_0"/>
            <p:cNvSpPr/>
            <p:nvPr/>
          </p:nvSpPr>
          <p:spPr>
            <a:xfrm>
              <a:off x="4572000" y="822960"/>
              <a:ext cx="425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✅  RESULTADO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g3973fef2247_3_0"/>
            <p:cNvSpPr/>
            <p:nvPr/>
          </p:nvSpPr>
          <p:spPr>
            <a:xfrm>
              <a:off x="4709150" y="1261879"/>
              <a:ext cx="3977700" cy="33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</a:rPr>
                <a:t>¡El alcance principal está muy bien identificado! Sin embargo, para que tu WBS sea una herramienta profesional para el Equipo, te sugiero dos mejoras estructurales: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b="1" lang="en-US" sz="1100">
                  <a:solidFill>
                    <a:schemeClr val="dk1"/>
                  </a:solidFill>
                </a:rPr>
                <a:t>Usar sustantivos (Entregables), no verbos (Acciones):</a:t>
              </a:r>
              <a:r>
                <a:rPr lang="en-US" sz="1100">
                  <a:solidFill>
                    <a:schemeClr val="dk1"/>
                  </a:solidFill>
                </a:rPr>
                <a:t> La WBS debe enfocarse en </a:t>
              </a:r>
              <a:r>
                <a:rPr i="1" lang="en-US" sz="1100">
                  <a:solidFill>
                    <a:schemeClr val="dk1"/>
                  </a:solidFill>
                </a:rPr>
                <a:t>qué</a:t>
              </a:r>
              <a:r>
                <a:rPr lang="en-US" sz="1100">
                  <a:solidFill>
                    <a:schemeClr val="dk1"/>
                  </a:solidFill>
                </a:rPr>
                <a:t> se entrega. Cambiá 'Hacer el registro' por 'Módulo de Gestión de Usuarios'.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b="1" lang="en-US" sz="1100">
                  <a:solidFill>
                    <a:schemeClr val="dk1"/>
                  </a:solidFill>
                </a:rPr>
                <a:t>Profundidad y Modelo de Negocio:</a:t>
              </a:r>
              <a:r>
                <a:rPr lang="en-US" sz="1100">
                  <a:solidFill>
                    <a:schemeClr val="dk1"/>
                  </a:solidFill>
                </a:rPr>
                <a:t> Tu estructura es muy plana. Te sugiero armar una jerarquía en 'escalera' (1.X.X) y no olvidar los módulos transversales de su MVP, como el modelo Premium y las notificaciones.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US" sz="1100">
                  <a:solidFill>
                    <a:schemeClr val="dk1"/>
                  </a:solidFill>
                </a:rPr>
                <a:t>Ejemplo corregido:</a:t>
              </a:r>
              <a:r>
                <a:rPr lang="en-US" sz="1100">
                  <a:solidFill>
                    <a:schemeClr val="dk1"/>
                  </a:solidFill>
                </a:rPr>
                <a:t> </a:t>
              </a:r>
              <a:r>
                <a:rPr b="1" lang="en-US" sz="1100">
                  <a:solidFill>
                    <a:schemeClr val="dk1"/>
                  </a:solidFill>
                </a:rPr>
                <a:t>1.0 Plataforma de Gestión de Turnos (MVP)</a:t>
              </a:r>
              <a:endParaRPr b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-US" sz="1100">
                  <a:solidFill>
                    <a:schemeClr val="dk1"/>
                  </a:solidFill>
                </a:rPr>
                <a:t>1.1 Módulo de Gestión de Usuarios (Incluye US de Registro y Planes Premium)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-US" sz="1100">
                  <a:solidFill>
                    <a:schemeClr val="dk1"/>
                  </a:solidFill>
                </a:rPr>
                <a:t>1.2 Sistema de Agenda y Reservas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-US" sz="1100">
                  <a:solidFill>
                    <a:schemeClr val="dk1"/>
                  </a:solidFill>
                </a:rPr>
                <a:t>1.3 Módulo de Pagos y Confirmaciones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-US" sz="1100">
                  <a:solidFill>
                    <a:schemeClr val="dk1"/>
                  </a:solidFill>
                </a:rPr>
                <a:t>1.4 Motor de Notificaciones (WhatsApp)"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marR="0" rtl="0" algn="ctr">
                <a:spcBef>
                  <a:spcPts val="120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t/>
              </a:r>
              <a:endParaRPr sz="1100">
                <a:solidFill>
                  <a:srgbClr val="0F172A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t/>
              </a:r>
              <a:endParaRPr sz="10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73fef2247_3_25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973fef2247_3_25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973fef2247_3_25"/>
          <p:cNvSpPr/>
          <p:nvPr/>
        </p:nvSpPr>
        <p:spPr>
          <a:xfrm>
            <a:off x="320040" y="73152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WBS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973fef2247_3_25"/>
          <p:cNvSpPr/>
          <p:nvPr/>
        </p:nvSpPr>
        <p:spPr>
          <a:xfrm>
            <a:off x="7832150" y="81075"/>
            <a:ext cx="1202700" cy="340800"/>
          </a:xfrm>
          <a:prstGeom prst="roundRect">
            <a:avLst>
              <a:gd fmla="val 16000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973fef2247_3_25"/>
          <p:cNvSpPr/>
          <p:nvPr/>
        </p:nvSpPr>
        <p:spPr>
          <a:xfrm>
            <a:off x="7832145" y="22859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Iteración 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3" name="Google Shape;373;g3973fef2247_3_25"/>
          <p:cNvGrpSpPr/>
          <p:nvPr/>
        </p:nvGrpSpPr>
        <p:grpSpPr>
          <a:xfrm>
            <a:off x="588298" y="1310232"/>
            <a:ext cx="2770854" cy="2523042"/>
            <a:chOff x="320040" y="1652475"/>
            <a:chExt cx="4023310" cy="1934700"/>
          </a:xfrm>
        </p:grpSpPr>
        <p:sp>
          <p:nvSpPr>
            <p:cNvPr id="374" name="Google Shape;374;g3973fef2247_3_25"/>
            <p:cNvSpPr/>
            <p:nvPr/>
          </p:nvSpPr>
          <p:spPr>
            <a:xfrm>
              <a:off x="320050" y="1652475"/>
              <a:ext cx="4023300" cy="1934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375" name="Google Shape;375;g3973fef2247_3_25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solidFill>
              <a:srgbClr val="1B2A4A"/>
            </a:solidFill>
            <a:ln cap="flat" cmpd="sng" w="12700">
              <a:solidFill>
                <a:srgbClr val="1B2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376" name="Google Shape;376;g3973fef2247_3_25"/>
            <p:cNvSpPr/>
            <p:nvPr/>
          </p:nvSpPr>
          <p:spPr>
            <a:xfrm>
              <a:off x="320040" y="1652485"/>
              <a:ext cx="40233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🤖  PROMPT enviado a la IA</a:t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g3973fef2247_3_25"/>
            <p:cNvSpPr/>
            <p:nvPr/>
          </p:nvSpPr>
          <p:spPr>
            <a:xfrm>
              <a:off x="457150" y="2160291"/>
              <a:ext cx="37491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rPr i="1" lang="en-US" sz="1200">
                  <a:solidFill>
                    <a:srgbClr val="0F172A"/>
                  </a:solidFill>
                </a:rPr>
                <a:t>“</a:t>
              </a:r>
              <a:r>
                <a:rPr i="1" lang="en-US" sz="1200">
                  <a:solidFill>
                    <a:srgbClr val="0F172A"/>
                  </a:solidFill>
                </a:rPr>
                <a:t>Te paso nuestra WBS del módulo de Agenda: 1. Configurar horarios fijos, 2. Reservar turno, 3. Cancelar turno, 4. Ver agenda. El MVP parece completo basándonos en nuestras User Stories, pero ¿ves algún punto ciego o escenario que no estemos contemplando en la lógica del negocio?”</a:t>
              </a:r>
              <a:endParaRPr i="0" sz="12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378" name="Google Shape;378;g3973fef2247_3_25"/>
          <p:cNvGrpSpPr/>
          <p:nvPr/>
        </p:nvGrpSpPr>
        <p:grpSpPr>
          <a:xfrm>
            <a:off x="4128852" y="992100"/>
            <a:ext cx="4615021" cy="3159300"/>
            <a:chOff x="4303278" y="992101"/>
            <a:chExt cx="4251908" cy="3159300"/>
          </a:xfrm>
        </p:grpSpPr>
        <p:sp>
          <p:nvSpPr>
            <p:cNvPr id="379" name="Google Shape;379;g3973fef2247_3_25"/>
            <p:cNvSpPr/>
            <p:nvPr/>
          </p:nvSpPr>
          <p:spPr>
            <a:xfrm>
              <a:off x="4303278" y="992101"/>
              <a:ext cx="4251900" cy="31593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g3973fef2247_3_25"/>
            <p:cNvSpPr/>
            <p:nvPr/>
          </p:nvSpPr>
          <p:spPr>
            <a:xfrm>
              <a:off x="4303286" y="992110"/>
              <a:ext cx="4251900" cy="384000"/>
            </a:xfrm>
            <a:prstGeom prst="rect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g3973fef2247_3_25"/>
            <p:cNvSpPr/>
            <p:nvPr/>
          </p:nvSpPr>
          <p:spPr>
            <a:xfrm>
              <a:off x="4303286" y="992110"/>
              <a:ext cx="425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✅  RESULTADO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g3973fef2247_3_25"/>
            <p:cNvSpPr/>
            <p:nvPr/>
          </p:nvSpPr>
          <p:spPr>
            <a:xfrm>
              <a:off x="4440381" y="1631702"/>
              <a:ext cx="3977700" cy="20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</a:rPr>
                <a:t>¡</a:t>
              </a:r>
              <a:r>
                <a:rPr lang="en-US" sz="1100">
                  <a:solidFill>
                    <a:schemeClr val="dk1"/>
                  </a:solidFill>
                </a:rPr>
                <a:t>Tienen muy bien cubierto el flujo principal. Sin embargo, su WBS asume que el profesional trabajará todas las semanas exactamente igual (el 'Happy Path').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</a:rPr>
                <a:t>En un sistema de turnos real, ¿qué sucede si el profesional se enferma, se toma vacaciones o hay un feriado nacional? Si solo tienen horarios fijos, los clientes reservarán en días no laborables.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</a:rPr>
                <a:t>Te sugiero debatir con el equipo si el MVP debería incluir un entregable adicional: </a:t>
              </a:r>
              <a:r>
                <a:rPr b="1" lang="en-US" sz="1100">
                  <a:solidFill>
                    <a:schemeClr val="dk1"/>
                  </a:solidFill>
                </a:rPr>
                <a:t>1.2.X Módulo de Excepciones y Bloqueos Manuales de Agenda</a:t>
              </a:r>
              <a:r>
                <a:rPr lang="en-US" sz="1100">
                  <a:solidFill>
                    <a:schemeClr val="dk1"/>
                  </a:solidFill>
                </a:rPr>
                <a:t> (Para que el profesional pueda tachar días específicos sin cambiar toda su configuración base).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marR="0" rtl="0" algn="ctr">
                <a:spcBef>
                  <a:spcPts val="120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t/>
              </a:r>
              <a:endParaRPr sz="1100">
                <a:solidFill>
                  <a:srgbClr val="0F172A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050"/>
                <a:buFont typeface="Calibri"/>
                <a:buNone/>
              </a:pPr>
              <a:r>
                <a:t/>
              </a:r>
              <a:endParaRPr sz="10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Estructura de Desglose del Trabajo (WBS)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1707"/>
            <a:ext cx="8839204" cy="1640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732a62f44_1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9732a62f44_1_0"/>
          <p:cNvSpPr/>
          <p:nvPr/>
        </p:nvSpPr>
        <p:spPr>
          <a:xfrm>
            <a:off x="0" y="0"/>
            <a:ext cx="320100" cy="51435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9732a62f44_1_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737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9732a62f44_1_0"/>
          <p:cNvSpPr/>
          <p:nvPr/>
        </p:nvSpPr>
        <p:spPr>
          <a:xfrm>
            <a:off x="548640" y="1645920"/>
            <a:ext cx="8046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Costos y Revenue</a:t>
            </a:r>
            <a:endParaRPr b="1" sz="4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74413fc68_0_1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974413fc68_0_1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974413fc68_0_1"/>
          <p:cNvSpPr/>
          <p:nvPr/>
        </p:nvSpPr>
        <p:spPr>
          <a:xfrm>
            <a:off x="320040" y="73152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974413fc68_0_1"/>
          <p:cNvSpPr/>
          <p:nvPr/>
        </p:nvSpPr>
        <p:spPr>
          <a:xfrm>
            <a:off x="320050" y="658375"/>
            <a:ext cx="8503800" cy="90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974413fc68_0_1"/>
          <p:cNvSpPr/>
          <p:nvPr/>
        </p:nvSpPr>
        <p:spPr>
          <a:xfrm>
            <a:off x="320050" y="658375"/>
            <a:ext cx="54900" cy="9081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974413fc68_0_1"/>
          <p:cNvSpPr/>
          <p:nvPr/>
        </p:nvSpPr>
        <p:spPr>
          <a:xfrm>
            <a:off x="484642" y="718134"/>
            <a:ext cx="502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0E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rgbClr val="14B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974413fc68_0_1"/>
          <p:cNvSpPr/>
          <p:nvPr/>
        </p:nvSpPr>
        <p:spPr>
          <a:xfrm>
            <a:off x="1069858" y="742038"/>
            <a:ext cx="4114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Costos de desarrollo</a:t>
            </a:r>
            <a:endParaRPr b="1" sz="1300">
              <a:solidFill>
                <a:srgbClr val="1A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974413fc68_0_1"/>
          <p:cNvSpPr/>
          <p:nvPr/>
        </p:nvSpPr>
        <p:spPr>
          <a:xfrm>
            <a:off x="1069858" y="1112546"/>
            <a:ext cx="71322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Cuanto cuesta desarrollar este producto.</a:t>
            </a:r>
            <a:endParaRPr sz="1000">
              <a:solidFill>
                <a:srgbClr val="6B7A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974413fc68_0_1"/>
          <p:cNvSpPr/>
          <p:nvPr/>
        </p:nvSpPr>
        <p:spPr>
          <a:xfrm>
            <a:off x="320050" y="1710138"/>
            <a:ext cx="8503800" cy="90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974413fc68_0_1"/>
          <p:cNvSpPr/>
          <p:nvPr/>
        </p:nvSpPr>
        <p:spPr>
          <a:xfrm>
            <a:off x="320050" y="1710138"/>
            <a:ext cx="54900" cy="9081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974413fc68_0_1"/>
          <p:cNvSpPr/>
          <p:nvPr/>
        </p:nvSpPr>
        <p:spPr>
          <a:xfrm>
            <a:off x="484642" y="1769897"/>
            <a:ext cx="502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0E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rgbClr val="14B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974413fc68_0_1"/>
          <p:cNvSpPr/>
          <p:nvPr/>
        </p:nvSpPr>
        <p:spPr>
          <a:xfrm>
            <a:off x="1069858" y="1793801"/>
            <a:ext cx="4114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Costos Operativos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974413fc68_0_1"/>
          <p:cNvSpPr/>
          <p:nvPr/>
        </p:nvSpPr>
        <p:spPr>
          <a:xfrm>
            <a:off x="1069858" y="2164309"/>
            <a:ext cx="71322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Cuanto cuesta sostener este producto por més.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974413fc68_0_1"/>
          <p:cNvSpPr/>
          <p:nvPr/>
        </p:nvSpPr>
        <p:spPr>
          <a:xfrm>
            <a:off x="320050" y="2761901"/>
            <a:ext cx="8503800" cy="90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974413fc68_0_1"/>
          <p:cNvSpPr/>
          <p:nvPr/>
        </p:nvSpPr>
        <p:spPr>
          <a:xfrm>
            <a:off x="320050" y="2761901"/>
            <a:ext cx="54900" cy="9081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974413fc68_0_1"/>
          <p:cNvSpPr/>
          <p:nvPr/>
        </p:nvSpPr>
        <p:spPr>
          <a:xfrm>
            <a:off x="484642" y="2821661"/>
            <a:ext cx="502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0E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rgbClr val="14B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974413fc68_0_1"/>
          <p:cNvSpPr/>
          <p:nvPr/>
        </p:nvSpPr>
        <p:spPr>
          <a:xfrm>
            <a:off x="1069858" y="2845564"/>
            <a:ext cx="4114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Proyeccion de Ingresos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974413fc68_0_1"/>
          <p:cNvSpPr/>
          <p:nvPr/>
        </p:nvSpPr>
        <p:spPr>
          <a:xfrm>
            <a:off x="1069858" y="3216072"/>
            <a:ext cx="71322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En cuanto tiempo se puede recuperar lo invertido para llevar a cabo este proyecto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974413fc68_0_1"/>
          <p:cNvSpPr/>
          <p:nvPr/>
        </p:nvSpPr>
        <p:spPr>
          <a:xfrm>
            <a:off x="320050" y="3813664"/>
            <a:ext cx="8503800" cy="90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974413fc68_0_1"/>
          <p:cNvSpPr/>
          <p:nvPr/>
        </p:nvSpPr>
        <p:spPr>
          <a:xfrm>
            <a:off x="320050" y="3813664"/>
            <a:ext cx="54900" cy="9081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974413fc68_0_1"/>
          <p:cNvSpPr/>
          <p:nvPr/>
        </p:nvSpPr>
        <p:spPr>
          <a:xfrm>
            <a:off x="484642" y="3873424"/>
            <a:ext cx="502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0E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rgbClr val="14B0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974413fc68_0_1"/>
          <p:cNvSpPr/>
          <p:nvPr/>
        </p:nvSpPr>
        <p:spPr>
          <a:xfrm>
            <a:off x="1069858" y="3897327"/>
            <a:ext cx="4114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Variables Ajustables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974413fc68_0_1"/>
          <p:cNvSpPr/>
          <p:nvPr/>
        </p:nvSpPr>
        <p:spPr>
          <a:xfrm>
            <a:off x="1069858" y="4267835"/>
            <a:ext cx="71322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Variables utilizadas, flexibilidad y alcance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5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74413fc68_2_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3D63"/>
          </a:solidFill>
          <a:ln cap="flat" cmpd="sng" w="12700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974413fc68_2_0"/>
          <p:cNvSpPr/>
          <p:nvPr/>
        </p:nvSpPr>
        <p:spPr>
          <a:xfrm>
            <a:off x="0" y="0"/>
            <a:ext cx="91440" cy="685800"/>
          </a:xfrm>
          <a:prstGeom prst="rect">
            <a:avLst/>
          </a:prstGeom>
          <a:solidFill>
            <a:srgbClr val="14B0E2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974413fc68_2_0"/>
          <p:cNvSpPr/>
          <p:nvPr/>
        </p:nvSpPr>
        <p:spPr>
          <a:xfrm>
            <a:off x="137160" y="91440"/>
            <a:ext cx="384048" cy="47548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974413fc68_2_0"/>
          <p:cNvSpPr/>
          <p:nvPr/>
        </p:nvSpPr>
        <p:spPr>
          <a:xfrm>
            <a:off x="137160" y="91440"/>
            <a:ext cx="384048" cy="475488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974413fc68_2_0"/>
          <p:cNvSpPr/>
          <p:nvPr/>
        </p:nvSpPr>
        <p:spPr>
          <a:xfrm>
            <a:off x="621792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Costos de Desarrollo — Equipo de Trabajo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974413fc68_2_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B0E2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974413fc68_2_0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Appointa</a:t>
            </a: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Planificación de Proyectos · Grupo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974413fc68_2_0"/>
          <p:cNvSpPr/>
          <p:nvPr/>
        </p:nvSpPr>
        <p:spPr>
          <a:xfrm>
            <a:off x="182880" y="749808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Planificación de 10 semanas · 3 fases (Planning + 7 Sprints) · Contingencia del 10%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2" name="Google Shape;442;g3974413fc68_2_0"/>
          <p:cNvGraphicFramePr/>
          <p:nvPr/>
        </p:nvGraphicFramePr>
        <p:xfrm>
          <a:off x="228600" y="107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{E4D8494C-CF83-4609-AAC6-5C900FBBA105}</a:tableStyleId>
              </a:tblPr>
              <a:tblGrid>
                <a:gridCol w="2926075"/>
                <a:gridCol w="1645925"/>
                <a:gridCol w="1828800"/>
                <a:gridCol w="228600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Perfil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Rate (USD/h)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Horas Totales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 Total (USD)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Manager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$ 4.320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Solution Architect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$ 3.570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Analyst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$ 25,00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$ 2.700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 Ssr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$ 15,00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Engineer Sr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$ 2.240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Engineer Ssr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$ 17,50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$ 1.960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Engineer Jr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$ 15,00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 Equipo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783 hs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$ 18.150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A7A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5A6A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Contingencia (10%)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A7A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5A6A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$ 1.826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DESARROLLO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$ 20.080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5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974413fc68_2_1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3D63"/>
          </a:solidFill>
          <a:ln cap="flat" cmpd="sng" w="12700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974413fc68_2_14"/>
          <p:cNvSpPr/>
          <p:nvPr/>
        </p:nvSpPr>
        <p:spPr>
          <a:xfrm>
            <a:off x="0" y="0"/>
            <a:ext cx="91440" cy="685800"/>
          </a:xfrm>
          <a:prstGeom prst="rect">
            <a:avLst/>
          </a:prstGeom>
          <a:solidFill>
            <a:srgbClr val="14B0E2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974413fc68_2_14"/>
          <p:cNvSpPr/>
          <p:nvPr/>
        </p:nvSpPr>
        <p:spPr>
          <a:xfrm>
            <a:off x="137160" y="91440"/>
            <a:ext cx="384048" cy="47548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974413fc68_2_14"/>
          <p:cNvSpPr/>
          <p:nvPr/>
        </p:nvSpPr>
        <p:spPr>
          <a:xfrm>
            <a:off x="137160" y="91440"/>
            <a:ext cx="384048" cy="475488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974413fc68_2_14"/>
          <p:cNvSpPr/>
          <p:nvPr/>
        </p:nvSpPr>
        <p:spPr>
          <a:xfrm>
            <a:off x="621792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Costos Operativos Mensuales — Infraestructura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974413fc68_2_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B0E2"/>
          </a:solidFill>
          <a:ln cap="flat" cmpd="sng" w="12700">
            <a:solidFill>
              <a:srgbClr val="14B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4B0E2"/>
              </a:highlight>
            </a:endParaRPr>
          </a:p>
        </p:txBody>
      </p:sp>
      <p:sp>
        <p:nvSpPr>
          <p:cNvPr id="454" name="Google Shape;454;g3974413fc68_2_14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Appointa</a:t>
            </a: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Planificación de Proyectos · Grupo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974413fc68_2_14"/>
          <p:cNvSpPr/>
          <p:nvPr/>
        </p:nvSpPr>
        <p:spPr>
          <a:xfrm>
            <a:off x="182880" y="749808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Servicios de infraestructura cloud y APIs externas necesarios para operar la plataforma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6" name="Google Shape;456;g3974413fc68_2_14"/>
          <p:cNvGraphicFramePr/>
          <p:nvPr/>
        </p:nvGraphicFramePr>
        <p:xfrm>
          <a:off x="228600" y="107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{E4D8494C-CF83-4609-AAC6-5C900FBBA105}</a:tableStyleId>
              </a:tblPr>
              <a:tblGrid>
                <a:gridCol w="2194550"/>
                <a:gridCol w="1828800"/>
                <a:gridCol w="14630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Proveedor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Costo/mes (USD)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WhatsApp Business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/ Twilio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$ 10 - 20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EC2 – Compute (AWS)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 Web Services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A7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A6A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RDS – Base de Datos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 Web Services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Route 53 – DNS/Routing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 Web Services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Dominio .com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Namecheap / NIC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$ 15 (anual)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 Infraestructura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$ 60 - 70 / mes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457" name="Google Shape;457;g3974413fc68_2_14"/>
          <p:cNvSpPr/>
          <p:nvPr/>
        </p:nvSpPr>
        <p:spPr>
          <a:xfrm>
            <a:off x="5989320" y="1078992"/>
            <a:ext cx="2926080" cy="822960"/>
          </a:xfrm>
          <a:prstGeom prst="rect">
            <a:avLst/>
          </a:prstGeom>
          <a:solidFill>
            <a:srgbClr val="D9E2F3"/>
          </a:solidFill>
          <a:ln cap="flat" cmpd="sng" w="12700">
            <a:solidFill>
              <a:srgbClr val="D9E2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974413fc68_2_14"/>
          <p:cNvSpPr/>
          <p:nvPr/>
        </p:nvSpPr>
        <p:spPr>
          <a:xfrm>
            <a:off x="5989320" y="1152144"/>
            <a:ext cx="2926080" cy="4526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$ 20/mes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974413fc68_2_14"/>
          <p:cNvSpPr/>
          <p:nvPr/>
        </p:nvSpPr>
        <p:spPr>
          <a:xfrm>
            <a:off x="6044184" y="1572768"/>
            <a:ext cx="2816352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Hosting mínimo (MVP)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974413fc68_2_14"/>
          <p:cNvSpPr/>
          <p:nvPr/>
        </p:nvSpPr>
        <p:spPr>
          <a:xfrm>
            <a:off x="5989320" y="1993392"/>
            <a:ext cx="2926080" cy="82296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974413fc68_2_14"/>
          <p:cNvSpPr/>
          <p:nvPr/>
        </p:nvSpPr>
        <p:spPr>
          <a:xfrm>
            <a:off x="5989320" y="2066544"/>
            <a:ext cx="2926080" cy="4526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$ 60–70/mes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974413fc68_2_14"/>
          <p:cNvSpPr/>
          <p:nvPr/>
        </p:nvSpPr>
        <p:spPr>
          <a:xfrm>
            <a:off x="6044184" y="2487168"/>
            <a:ext cx="2816352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Operativo completo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974413fc68_2_14"/>
          <p:cNvSpPr/>
          <p:nvPr/>
        </p:nvSpPr>
        <p:spPr>
          <a:xfrm>
            <a:off x="5989320" y="2907792"/>
            <a:ext cx="2926080" cy="822960"/>
          </a:xfrm>
          <a:prstGeom prst="rect">
            <a:avLst/>
          </a:prstGeom>
          <a:solidFill>
            <a:srgbClr val="E2EFD9"/>
          </a:solidFill>
          <a:ln cap="flat" cmpd="sng" w="12700">
            <a:solidFill>
              <a:srgbClr val="E2EF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974413fc68_2_14"/>
          <p:cNvSpPr/>
          <p:nvPr/>
        </p:nvSpPr>
        <p:spPr>
          <a:xfrm>
            <a:off x="5989320" y="2980944"/>
            <a:ext cx="2926080" cy="4526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$ 0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974413fc68_2_14"/>
          <p:cNvSpPr/>
          <p:nvPr/>
        </p:nvSpPr>
        <p:spPr>
          <a:xfrm>
            <a:off x="6044184" y="3401568"/>
            <a:ext cx="2816352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SSL · Google Calendar API · Email (tier gratuito)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974413fc68_2_14"/>
          <p:cNvSpPr/>
          <p:nvPr/>
        </p:nvSpPr>
        <p:spPr>
          <a:xfrm>
            <a:off x="228600" y="373075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Nota: en fase MVP se priorizan planes gratuitos. La infraestructura escala con el volumen de usuarios activos.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5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974413fc68_2_3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3D63"/>
          </a:solidFill>
          <a:ln cap="flat" cmpd="sng" w="12700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974413fc68_2_37"/>
          <p:cNvSpPr/>
          <p:nvPr/>
        </p:nvSpPr>
        <p:spPr>
          <a:xfrm>
            <a:off x="0" y="0"/>
            <a:ext cx="91440" cy="685800"/>
          </a:xfrm>
          <a:prstGeom prst="rect">
            <a:avLst/>
          </a:prstGeom>
          <a:solidFill>
            <a:srgbClr val="14B0E2"/>
          </a:solidFill>
          <a:ln cap="flat" cmpd="sng" w="12700">
            <a:solidFill>
              <a:srgbClr val="14B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974413fc68_2_37"/>
          <p:cNvSpPr/>
          <p:nvPr/>
        </p:nvSpPr>
        <p:spPr>
          <a:xfrm>
            <a:off x="137160" y="91440"/>
            <a:ext cx="384048" cy="47548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974413fc68_2_37"/>
          <p:cNvSpPr/>
          <p:nvPr/>
        </p:nvSpPr>
        <p:spPr>
          <a:xfrm>
            <a:off x="137160" y="91440"/>
            <a:ext cx="384048" cy="475488"/>
          </a:xfrm>
          <a:prstGeom prst="rect">
            <a:avLst/>
          </a:prstGeom>
          <a:solidFill>
            <a:srgbClr val="14B0E2"/>
          </a:solidFill>
          <a:ln cap="flat" cmpd="sng" w="9525">
            <a:solidFill>
              <a:srgbClr val="14B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974413fc68_2_37"/>
          <p:cNvSpPr/>
          <p:nvPr/>
        </p:nvSpPr>
        <p:spPr>
          <a:xfrm>
            <a:off x="621792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Proyección de Ingresos — Modelo Freemium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974413fc68_2_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B0E2"/>
          </a:solidFill>
          <a:ln cap="flat" cmpd="sng" w="12700">
            <a:solidFill>
              <a:srgbClr val="14B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974413fc68_2_3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Appointa</a:t>
            </a: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Planificación de Proyectos · Grupo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974413fc68_2_37"/>
          <p:cNvSpPr/>
          <p:nvPr/>
        </p:nvSpPr>
        <p:spPr>
          <a:xfrm>
            <a:off x="182880" y="749808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Crecimiento conservador de suscriptores (10 nuevo</a:t>
            </a:r>
            <a:r>
              <a:rPr i="1"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 al mes, baja del %5)</a:t>
            </a: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i="1"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Meses 1 al 10</a:t>
            </a: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· Planes PRO ($12) y Clínica ($</a:t>
            </a:r>
            <a:r>
              <a:rPr i="1"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i="1"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· Proporcion %50,%50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0" name="Google Shape;480;g3974413fc68_2_37"/>
          <p:cNvGraphicFramePr/>
          <p:nvPr/>
        </p:nvGraphicFramePr>
        <p:xfrm>
          <a:off x="228600" y="107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{E4D8494C-CF83-4609-AAC6-5C900FBBA105}</a:tableStyleId>
              </a:tblPr>
              <a:tblGrid>
                <a:gridCol w="1371600"/>
                <a:gridCol w="1188725"/>
                <a:gridCol w="1371600"/>
                <a:gridCol w="1463050"/>
                <a:gridCol w="1645925"/>
                <a:gridCol w="16459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Período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Suscr. PRO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Suscr. Clínica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Revenue/mes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Acum.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Profit/Loss </a:t>
                      </a: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Acum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</a:t>
                      </a: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$</a:t>
                      </a:r>
                      <a:r>
                        <a:rPr lang="en-US" sz="10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0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20.300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</a:t>
                      </a: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$ </a:t>
                      </a:r>
                      <a:r>
                        <a:rPr lang="en-US" sz="10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19.840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</a:t>
                      </a: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1.560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$ </a:t>
                      </a:r>
                      <a:r>
                        <a:rPr lang="en-US" sz="10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19.515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</a:t>
                      </a: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1.170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2.730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$ </a:t>
                      </a:r>
                      <a:r>
                        <a:rPr lang="en-US" sz="10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18.400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</a:t>
                      </a: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$ </a:t>
                      </a:r>
                      <a:r>
                        <a:rPr lang="en-US" sz="10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16.960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 11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$ 3.445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$ 20.020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Char char="-"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$1.498</a:t>
                      </a:r>
                      <a:endParaRPr sz="1000">
                        <a:solidFill>
                          <a:srgbClr val="C039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 12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$ 3.770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$ 23.790</a:t>
                      </a:r>
                      <a:endParaRPr sz="10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$ 2.216</a:t>
                      </a:r>
                      <a:endParaRPr sz="1000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</a:t>
                      </a: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b="1"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</a:t>
                      </a:r>
                      <a:r>
                        <a:rPr b="1"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27.885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$ 6.255</a:t>
                      </a:r>
                      <a:endParaRPr sz="1000" u="none" cap="none" strike="noStrik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ACUMULADO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$ 27.885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$ 6.255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0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CB"/>
                    </a:solidFill>
                  </a:tcPr>
                </a:tc>
              </a:tr>
            </a:tbl>
          </a:graphicData>
        </a:graphic>
      </p:graphicFrame>
      <p:sp>
        <p:nvSpPr>
          <p:cNvPr id="481" name="Google Shape;481;g3974413fc68_2_37"/>
          <p:cNvSpPr/>
          <p:nvPr/>
        </p:nvSpPr>
        <p:spPr>
          <a:xfrm>
            <a:off x="228600" y="452628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El break-even </a:t>
            </a:r>
            <a:r>
              <a:rPr b="1" i="1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operativo</a:t>
            </a:r>
            <a:r>
              <a:rPr b="0" i="1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se alcanza con ~3 suscriptores PRO activos.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5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974413fc68_2_5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3D63"/>
          </a:solidFill>
          <a:ln cap="flat" cmpd="sng" w="12700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974413fc68_2_51"/>
          <p:cNvSpPr/>
          <p:nvPr/>
        </p:nvSpPr>
        <p:spPr>
          <a:xfrm>
            <a:off x="0" y="0"/>
            <a:ext cx="91440" cy="685800"/>
          </a:xfrm>
          <a:prstGeom prst="rect">
            <a:avLst/>
          </a:prstGeom>
          <a:solidFill>
            <a:srgbClr val="14B0E2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974413fc68_2_51"/>
          <p:cNvSpPr/>
          <p:nvPr/>
        </p:nvSpPr>
        <p:spPr>
          <a:xfrm>
            <a:off x="137160" y="91440"/>
            <a:ext cx="384048" cy="47548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974413fc68_2_51"/>
          <p:cNvSpPr/>
          <p:nvPr/>
        </p:nvSpPr>
        <p:spPr>
          <a:xfrm>
            <a:off x="137160" y="91440"/>
            <a:ext cx="384048" cy="475488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974413fc68_2_51"/>
          <p:cNvSpPr/>
          <p:nvPr/>
        </p:nvSpPr>
        <p:spPr>
          <a:xfrm>
            <a:off x="621792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 Ajustables — Palancas del Modelo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974413fc68_2_5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B0E2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974413fc68_2_51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Appointa </a:t>
            </a: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Planificación de Proyectos · Grupo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974413fc68_2_51"/>
          <p:cNvSpPr/>
          <p:nvPr/>
        </p:nvSpPr>
        <p:spPr>
          <a:xfrm>
            <a:off x="182880" y="749808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Parámetros que el equipo puede modificar para sensibilizar el modelo financiero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974413fc68_2_51"/>
          <p:cNvSpPr/>
          <p:nvPr/>
        </p:nvSpPr>
        <p:spPr>
          <a:xfrm>
            <a:off x="228600" y="1115568"/>
            <a:ext cx="2697480" cy="1463040"/>
          </a:xfrm>
          <a:prstGeom prst="rect">
            <a:avLst/>
          </a:prstGeom>
          <a:solidFill>
            <a:srgbClr val="D9E2F3"/>
          </a:solidFill>
          <a:ln cap="flat" cmpd="sng" w="12700">
            <a:solidFill>
              <a:srgbClr val="D9E2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974413fc68_2_51"/>
          <p:cNvSpPr/>
          <p:nvPr/>
        </p:nvSpPr>
        <p:spPr>
          <a:xfrm>
            <a:off x="228600" y="1115568"/>
            <a:ext cx="269748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974413fc68_2_51"/>
          <p:cNvSpPr/>
          <p:nvPr/>
        </p:nvSpPr>
        <p:spPr>
          <a:xfrm>
            <a:off x="320040" y="1207008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Rate del equipo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974413fc68_2_51"/>
          <p:cNvSpPr/>
          <p:nvPr/>
        </p:nvSpPr>
        <p:spPr>
          <a:xfrm>
            <a:off x="320040" y="1517904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$ 15–40/h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974413fc68_2_51"/>
          <p:cNvSpPr/>
          <p:nvPr/>
        </p:nvSpPr>
        <p:spPr>
          <a:xfrm>
            <a:off x="320040" y="1975104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Ajustable por perfil. Reducir rates baja el costo total de desarrollo.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974413fc68_2_51"/>
          <p:cNvSpPr/>
          <p:nvPr/>
        </p:nvSpPr>
        <p:spPr>
          <a:xfrm>
            <a:off x="3154680" y="1115568"/>
            <a:ext cx="2697480" cy="146304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974413fc68_2_51"/>
          <p:cNvSpPr/>
          <p:nvPr/>
        </p:nvSpPr>
        <p:spPr>
          <a:xfrm>
            <a:off x="3154680" y="1115568"/>
            <a:ext cx="269748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974413fc68_2_51"/>
          <p:cNvSpPr/>
          <p:nvPr/>
        </p:nvSpPr>
        <p:spPr>
          <a:xfrm>
            <a:off x="3246120" y="1207008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% Contingencia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974413fc68_2_51"/>
          <p:cNvSpPr/>
          <p:nvPr/>
        </p:nvSpPr>
        <p:spPr>
          <a:xfrm>
            <a:off x="3246120" y="1517904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974413fc68_2_51"/>
          <p:cNvSpPr/>
          <p:nvPr/>
        </p:nvSpPr>
        <p:spPr>
          <a:xfrm>
            <a:off x="3246120" y="1975104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Cubre riesgos imprevistos. Rango típico: 5–20% según madurez del proyecto.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974413fc68_2_51"/>
          <p:cNvSpPr/>
          <p:nvPr/>
        </p:nvSpPr>
        <p:spPr>
          <a:xfrm>
            <a:off x="6080760" y="1115568"/>
            <a:ext cx="2697480" cy="1463040"/>
          </a:xfrm>
          <a:prstGeom prst="rect">
            <a:avLst/>
          </a:prstGeom>
          <a:solidFill>
            <a:srgbClr val="E2EFD9"/>
          </a:solidFill>
          <a:ln cap="flat" cmpd="sng" w="12700">
            <a:solidFill>
              <a:srgbClr val="E2EF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974413fc68_2_51"/>
          <p:cNvSpPr/>
          <p:nvPr/>
        </p:nvSpPr>
        <p:spPr>
          <a:xfrm>
            <a:off x="6080760" y="1115568"/>
            <a:ext cx="269748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974413fc68_2_51"/>
          <p:cNvSpPr/>
          <p:nvPr/>
        </p:nvSpPr>
        <p:spPr>
          <a:xfrm>
            <a:off x="6172200" y="1207008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Precio Plan PRO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974413fc68_2_51"/>
          <p:cNvSpPr/>
          <p:nvPr/>
        </p:nvSpPr>
        <p:spPr>
          <a:xfrm>
            <a:off x="6172200" y="1517904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$ 1</a:t>
            </a:r>
            <a:r>
              <a:rPr b="1" lang="en-US" sz="2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/mes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974413fc68_2_51"/>
          <p:cNvSpPr/>
          <p:nvPr/>
        </p:nvSpPr>
        <p:spPr>
          <a:xfrm>
            <a:off x="6172200" y="1975104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Precio por profesional. Afecta directamente el revenue mensual.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974413fc68_2_51"/>
          <p:cNvSpPr/>
          <p:nvPr/>
        </p:nvSpPr>
        <p:spPr>
          <a:xfrm>
            <a:off x="228600" y="2743200"/>
            <a:ext cx="2697480" cy="1463040"/>
          </a:xfrm>
          <a:prstGeom prst="rect">
            <a:avLst/>
          </a:prstGeom>
          <a:solidFill>
            <a:srgbClr val="FEF2CB"/>
          </a:solidFill>
          <a:ln cap="flat" cmpd="sng" w="12700">
            <a:solidFill>
              <a:srgbClr val="FEF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974413fc68_2_51"/>
          <p:cNvSpPr/>
          <p:nvPr/>
        </p:nvSpPr>
        <p:spPr>
          <a:xfrm>
            <a:off x="228600" y="2743200"/>
            <a:ext cx="269748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974413fc68_2_51"/>
          <p:cNvSpPr/>
          <p:nvPr/>
        </p:nvSpPr>
        <p:spPr>
          <a:xfrm>
            <a:off x="320040" y="283464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Precio Plan Clínica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974413fc68_2_51"/>
          <p:cNvSpPr/>
          <p:nvPr/>
        </p:nvSpPr>
        <p:spPr>
          <a:xfrm>
            <a:off x="320040" y="3145536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$ </a:t>
            </a:r>
            <a:r>
              <a:rPr b="1" lang="en-US" sz="2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/mes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974413fc68_2_51"/>
          <p:cNvSpPr/>
          <p:nvPr/>
        </p:nvSpPr>
        <p:spPr>
          <a:xfrm>
            <a:off x="320040" y="3602736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Hasta 5 profesionales. Mayor ticket, menor volumen esperado.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974413fc68_2_51"/>
          <p:cNvSpPr/>
          <p:nvPr/>
        </p:nvSpPr>
        <p:spPr>
          <a:xfrm>
            <a:off x="3154680" y="2743200"/>
            <a:ext cx="2697480" cy="1463040"/>
          </a:xfrm>
          <a:prstGeom prst="rect">
            <a:avLst/>
          </a:prstGeom>
          <a:solidFill>
            <a:srgbClr val="D9E2F3"/>
          </a:solidFill>
          <a:ln cap="flat" cmpd="sng" w="12700">
            <a:solidFill>
              <a:srgbClr val="D9E2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974413fc68_2_51"/>
          <p:cNvSpPr/>
          <p:nvPr/>
        </p:nvSpPr>
        <p:spPr>
          <a:xfrm>
            <a:off x="3154680" y="2743200"/>
            <a:ext cx="269748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974413fc68_2_51"/>
          <p:cNvSpPr/>
          <p:nvPr/>
        </p:nvSpPr>
        <p:spPr>
          <a:xfrm>
            <a:off x="3246120" y="283464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Velocidad de adopción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974413fc68_2_51"/>
          <p:cNvSpPr/>
          <p:nvPr/>
        </p:nvSpPr>
        <p:spPr>
          <a:xfrm>
            <a:off x="3246120" y="3145536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+10 suscr./</a:t>
            </a:r>
            <a:r>
              <a:rPr b="1" lang="en-US" sz="2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mes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974413fc68_2_51"/>
          <p:cNvSpPr/>
          <p:nvPr/>
        </p:nvSpPr>
        <p:spPr>
          <a:xfrm>
            <a:off x="3246120" y="3602736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Escenario </a:t>
            </a: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optimista</a:t>
            </a: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. Acelerar adopción mejora el break-even.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974413fc68_2_51"/>
          <p:cNvSpPr/>
          <p:nvPr/>
        </p:nvSpPr>
        <p:spPr>
          <a:xfrm>
            <a:off x="6080760" y="2743200"/>
            <a:ext cx="2697480" cy="1463040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974413fc68_2_51"/>
          <p:cNvSpPr/>
          <p:nvPr/>
        </p:nvSpPr>
        <p:spPr>
          <a:xfrm>
            <a:off x="6080760" y="2743200"/>
            <a:ext cx="269748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974413fc68_2_51"/>
          <p:cNvSpPr/>
          <p:nvPr/>
        </p:nvSpPr>
        <p:spPr>
          <a:xfrm>
            <a:off x="6172200" y="283464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Proporcion de PLanes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974413fc68_2_51"/>
          <p:cNvSpPr/>
          <p:nvPr/>
        </p:nvSpPr>
        <p:spPr>
          <a:xfrm>
            <a:off x="6172200" y="3145536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50/50</a:t>
            </a: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% (</a:t>
            </a:r>
            <a:r>
              <a:rPr b="1" lang="en-US" sz="2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Pro/Clinica</a:t>
            </a: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974413fc68_2_51"/>
          <p:cNvSpPr/>
          <p:nvPr/>
        </p:nvSpPr>
        <p:spPr>
          <a:xfrm>
            <a:off x="6172200" y="3602736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Proporción</a:t>
            </a: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de cada plan respecto de la cantidad de </a:t>
            </a: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nuevos clientes</a:t>
            </a: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de cada 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3D63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D7377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685800" y="9144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685800" y="2423160"/>
            <a:ext cx="3657600" cy="36576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-1822750" y="1439265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685800" y="33375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2026-04-13T21:12:59Z</dcterms:created>
  <dc:creator>PptxGenJS</dc:creator>
</cp:coreProperties>
</file>